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f55805aa674b97"/>
  </p:sldMasterIdLst>
  <p:notesMasterIdLst>
    <p:notesMasterId xmlns:r="http://schemas.openxmlformats.org/officeDocument/2006/relationships" r:id="R1cc2ac91e12146a2"/>
  </p:notesMasterIdLst>
  <p:sldIdLst>
    <p:sldId xmlns:r="http://schemas.openxmlformats.org/officeDocument/2006/relationships" id="256" r:id="R7c5ad6cf9e6f40ec"/>
    <p:sldId xmlns:r="http://schemas.openxmlformats.org/officeDocument/2006/relationships" id="257" r:id="R8a31cd3f674b4533"/>
    <p:sldId xmlns:r="http://schemas.openxmlformats.org/officeDocument/2006/relationships" id="258" r:id="Rd9a96654f8714cb5"/>
    <p:sldId xmlns:r="http://schemas.openxmlformats.org/officeDocument/2006/relationships" id="259" r:id="R1dc20efe7e4d422c"/>
    <p:sldId xmlns:r="http://schemas.openxmlformats.org/officeDocument/2006/relationships" id="260" r:id="R95934145a6eb41f7"/>
    <p:sldId xmlns:r="http://schemas.openxmlformats.org/officeDocument/2006/relationships" id="261" r:id="Rafd06c18f45b4819"/>
    <p:sldId xmlns:r="http://schemas.openxmlformats.org/officeDocument/2006/relationships" id="262" r:id="R463c0b4728004380"/>
    <p:sldId xmlns:r="http://schemas.openxmlformats.org/officeDocument/2006/relationships" id="263" r:id="R12e28f628a884929"/>
    <p:sldId xmlns:r="http://schemas.openxmlformats.org/officeDocument/2006/relationships" id="264" r:id="R3b824d592698414f"/>
    <p:sldId xmlns:r="http://schemas.openxmlformats.org/officeDocument/2006/relationships" id="265" r:id="R06b7db1b98644a90"/>
    <p:sldId xmlns:r="http://schemas.openxmlformats.org/officeDocument/2006/relationships" id="266" r:id="R0b8e41be114749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1.xml" Id="R7c5ad6cf9e6f40ec" /><Relationship Type="http://schemas.openxmlformats.org/officeDocument/2006/relationships/slide" Target="/ppt/slides/slide2.xml" Id="R8a31cd3f674b4533" /><Relationship Type="http://schemas.openxmlformats.org/officeDocument/2006/relationships/slide" Target="/ppt/slides/slide3.xml" Id="Rd9a96654f8714cb5" /><Relationship Type="http://schemas.openxmlformats.org/officeDocument/2006/relationships/slide" Target="/ppt/slides/slide4.xml" Id="R1dc20efe7e4d422c" /><Relationship Type="http://schemas.openxmlformats.org/officeDocument/2006/relationships/slide" Target="/ppt/slides/slide5.xml" Id="R95934145a6eb41f7" /><Relationship Type="http://schemas.openxmlformats.org/officeDocument/2006/relationships/slide" Target="/ppt/slides/slide6.xml" Id="Rafd06c18f45b4819" /><Relationship Type="http://schemas.openxmlformats.org/officeDocument/2006/relationships/slide" Target="/ppt/slides/slide7.xml" Id="R463c0b4728004380" /><Relationship Type="http://schemas.openxmlformats.org/officeDocument/2006/relationships/slide" Target="/ppt/slides/slide8.xml" Id="R12e28f628a884929" /><Relationship Type="http://schemas.openxmlformats.org/officeDocument/2006/relationships/slide" Target="/ppt/slides/slide9.xml" Id="R3b824d592698414f" /><Relationship Type="http://schemas.openxmlformats.org/officeDocument/2006/relationships/slide" Target="/ppt/slides/slide10.xml" Id="R06b7db1b98644a90" /><Relationship Type="http://schemas.openxmlformats.org/officeDocument/2006/relationships/slide" Target="/ppt/slides/slide11.xml" Id="R0b8e41be114749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a93fc7b8164aff" /><Relationship Type="http://schemas.openxmlformats.org/officeDocument/2006/relationships/notesMaster" Target="/ppt/notesMasters/notesMaster1.xml" Id="R755e3e0a61f141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137578fe7d4646" /><Relationship Type="http://schemas.openxmlformats.org/officeDocument/2006/relationships/notesMaster" Target="/ppt/notesMasters/notesMaster1.xml" Id="R1325c41015424c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1b3f936b0548cf" /><Relationship Type="http://schemas.openxmlformats.org/officeDocument/2006/relationships/notesMaster" Target="/ppt/notesMasters/notesMaster1.xml" Id="R860f512fc39f41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c80a199e444a58" /><Relationship Type="http://schemas.openxmlformats.org/officeDocument/2006/relationships/notesMaster" Target="/ppt/notesMasters/notesMaster1.xml" Id="Rf30b599421e540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17fcc28dbb48e3" /><Relationship Type="http://schemas.openxmlformats.org/officeDocument/2006/relationships/notesMaster" Target="/ppt/notesMasters/notesMaster1.xml" Id="Rd1f1c7b318544a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6102b495c84c9f" /><Relationship Type="http://schemas.openxmlformats.org/officeDocument/2006/relationships/notesMaster" Target="/ppt/notesMasters/notesMaster1.xml" Id="Rc3b8d32ce9ff4c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ba2c21d994a5c" /><Relationship Type="http://schemas.openxmlformats.org/officeDocument/2006/relationships/notesMaster" Target="/ppt/notesMasters/notesMaster1.xml" Id="R9c8928179c3342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12c1dd1d184430" /><Relationship Type="http://schemas.openxmlformats.org/officeDocument/2006/relationships/notesMaster" Target="/ppt/notesMasters/notesMaster1.xml" Id="R29d97ab587bb4b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484ffc70d74d15" /><Relationship Type="http://schemas.openxmlformats.org/officeDocument/2006/relationships/notesMaster" Target="/ppt/notesMasters/notesMaster1.xml" Id="R13ed4efcf4534a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d2a5b8c4b4824" /><Relationship Type="http://schemas.openxmlformats.org/officeDocument/2006/relationships/notesMaster" Target="/ppt/notesMasters/notesMaster1.xml" Id="Re83db76b389541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ff27d23d6340c0" /><Relationship Type="http://schemas.openxmlformats.org/officeDocument/2006/relationships/notesMaster" Target="/ppt/notesMasters/notesMaster1.xml" Id="Rfd20c2d2194a40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今天的主题是“从你的创意到个性化硬件”，副标题是“基于开放硬件的 AI 辅助创作”。我们会从一个社区现象开始，聊一聊 203 的平台准备，再用同一个应用串起实体设备与网页模拟器。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标题：演讲者指定。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字体：HarmonyOS Sans SC，Copyright 2021 Huawei Device Co., Ltd.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https://developer.huawei.com/consumer/cn/design/resource-V1/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演讲视觉参考：https://www.smartisan.com/release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讲述与笑点为本次演讲原创。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以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M-VAVE FM-1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的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Felucca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为例，社区开发者通过定制固件，为音乐设备创造了更多玩法。项目明确说明在代码、测试、文档等工作中使用了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编程辅助。这说明越来越多用户希望亲自决定设备可以做什么。这里不把整个社区概括成某一种质量水平，也不把单个例子说成市场规模统计。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https://github.com/hugelton/Felucca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https://raw.githubusercontent.com/hugelton/Felucca/main/docs/controls.jpg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围绕让用户定义自己的工具这个目标，我们已经准备了接近十年。从早期 Matrix 产品，到 Mystrix，再到 MatrixOS 的开发接口与工具，我们一直在为第三方创造功能留出空间。AI 让更多人有能力参与进来，也让这份长期准备有了新的价值。接近十年的表述依据演讲者提供的品牌历史，不对应本页产品照片的上市年限。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品牌历史口径：演讲者提供。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https://203.io/products/matrix-founder-edition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https://203.io/products/mystrix-pro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讲述停顿：平台做了快十年，今天来了一位新同事。入职第一件事，还是读文档。（停一拍，再进入平台介绍。）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这里把产品关系讲清楚。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203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提供硬件，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提供系统与应用接口，开发者在系统之上创造自己的功能。官方文档提供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C++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两种开发入口，也提供浏览器中的开发工具包。今天的演示使用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，让大家关注应用本身的想法，而不必先处理底层驱动。当前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4.0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文档和工具包标注为测试阶段。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标志：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官方仓库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Resources/MatrixOS_White.svg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社区定制固件已经证明了用户创造新功能的需求。这里的比较对象是基于封闭平台的适配方式，不是对所有第三方项目作统一判断。原生开放的平台可以从接口、文档、调试和验证入口开始，就支持应用开发。我们的目标是让维护这些基础的工作更集中，让开发者把更多时间放到自己的应用上。系统演进仍需要兼容性工作，我们不承诺所有应用永远无需修改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接下来是整个讲座最考验信仰的两个字。（翻到 Demo，停一拍。）如果它顺利跑起来，请把掌声也分一点给写文档的人。随后进入提前准备好的应用演奏与网页模拟器展示。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推荐应用叫和弦涟漪：按下一个格子，触发当前调式中的和弦，同时显示扩散灯光；松开停止发音；再用一个控制切换大调和小调。向 Codex 提供官方 Wiki 和这个简短想法，让它查阅 Python API 实现。现场先展示提前保存的需求与生成过程，再演奏提前准备的版本，避免等待生成。声音使用 MIDI 连接预先准备的音源。画面中的官方照片只用于展示硬件外观，不是这个应用的运行记录。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应用概念：本次演讲提案。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图片：https://203.io/cdn/shop/files/Matrix_Ad_no_VFX_.00_00_53_21.Still003.jpg?v=1725057062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轻松表达：以前担心自己不会写代码。现在发现，需求也得认真写。（停一拍。）代码可以交给 AI，想法还是你自己的。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这一段保留约两分钟。前二十秒打开网页工具包并介绍浏览器中的 MatrixOS。接下来四十秒，通过提前配置好的本地自动化通道，让 AI 将同一个应用送入模拟器运行。再用四十秒点击演奏，并修改一个明显效果，例如涟漪颜色或扩散速度。最后二十秒强调，没有实物也可以先开始尝试和迭代。本地运行的网页工具包具有自动化桥接，公开静态站点没有这条本地桥接能力。工具包属于测试版，时序、USB、MIDI 和压力等硬件相关行为仍需实机验证。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在线体验：https://dev.203.io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讲述停顿：没有设备也能先试，先让想法跑起来，钱包可以晚一点参与。（停一拍。）等你知道自己真正想做什么，再选择合适的硬件。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Mystrix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系列提供可编程的网格控制器。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NullPerator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是另一条便携音乐创作产品线，官方页面仍标注项目在开发中，使用经过修改的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PicoTracker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固件。本次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演示基于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Mystrix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，不把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NullPerator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描述为运行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。接下来的产品方向是更多适合第三方开发的设备、更多工具形态，以及更广的价格覆盖。这些是方向，不在这里发布尚未确定的型号、售价或时间。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https://203.io/products/mystrix-pro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https://203.io/products/operator-deposit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未来产品方向：演讲者提供。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 对创作者是一个非常好的机会，很多过去只能停留在想法中的功能，现在更容易做出来。但好的硬件仍然有门槛。原型可以很快，手感、可靠性和制造质量却需要长期积累。我们希望提供更多工具形态和不同价位的产品，同时继续建设分享、复用、版本兼容和协作的生态。已有的官方文档、应用入口与开发工具是基础，完整生态仍需要和社区一起持续建设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未来产品与生态方向：演讲者提供。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结构图：https://203.io/cdn/shop/files/Exploded_View_2.png?v=1725254982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讲述停顿：代码生成得很快，但按键手感不会跟着一起生成。（停一拍。）这正是硬件团队仍要花时间反复打磨的部分。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最后回到创作者本身：你可以决定自己的工具怎样工作，把想法变成真实可用的东西。停顿后读出结尾：You will own everything and you will be happy. 中文大意是，你将拥有一切，也会拥有属于自己的快乐。谢谢大家。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aff3390d5a49dd" /><Relationship Type="http://schemas.openxmlformats.org/officeDocument/2006/relationships/image" Target="/ppt/media/image.jpeg" Id="Rd6a51e3b372246e9" /><Relationship Type="http://schemas.openxmlformats.org/officeDocument/2006/relationships/image" Target="/ppt/media/image.svg" Id="R80b4251d82ac4041" /><Relationship Type="http://schemas.openxmlformats.org/officeDocument/2006/relationships/notesSlide" Target="/ppt/notesSlides/notesSlide1.xml" Id="Rc441df82824440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99bf534ee44d3b" /><Relationship Type="http://schemas.openxmlformats.org/officeDocument/2006/relationships/image" Target="/ppt/media/image.jpeg" Id="R2fe51c08a1894a86" /><Relationship Type="http://schemas.openxmlformats.org/officeDocument/2006/relationships/hyperlink" Target="https://github.com/hugelton/Felucca" TargetMode="External" Id="Re02568774aa04801" /><Relationship Type="http://schemas.openxmlformats.org/officeDocument/2006/relationships/image" Target="/ppt/media/image2.jpeg" Id="R93828dd1bb2c4c62" /><Relationship Type="http://schemas.openxmlformats.org/officeDocument/2006/relationships/image" Target="/ppt/media/image2.svg" Id="R35f76656f56c470b" /><Relationship Type="http://schemas.openxmlformats.org/officeDocument/2006/relationships/notesSlide" Target="/ppt/notesSlides/notesSlide2.xml" Id="R58e2357b0c994e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fdcd4de6e74385" /><Relationship Type="http://schemas.openxmlformats.org/officeDocument/2006/relationships/image" Target="/ppt/media/image.png" Id="R64eba6ba78fd43b0" /><Relationship Type="http://schemas.openxmlformats.org/officeDocument/2006/relationships/image" Target="/ppt/media/image2.png" Id="R9568fd8007894333" /><Relationship Type="http://schemas.openxmlformats.org/officeDocument/2006/relationships/image" Target="/ppt/media/image3.svg" Id="R9ff8d83dbb774b2b" /><Relationship Type="http://schemas.openxmlformats.org/officeDocument/2006/relationships/notesSlide" Target="/ppt/notesSlides/notesSlide3.xml" Id="Rd8e53ac9ca8e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4309d7682b4436" /><Relationship Type="http://schemas.openxmlformats.org/officeDocument/2006/relationships/image" Target="/ppt/media/image3.png" Id="R3f0ad06f279f455f" /><Relationship Type="http://schemas.openxmlformats.org/officeDocument/2006/relationships/image" Target="/ppt/media/image4.svg" Id="R5f818b4f97764bb9" /><Relationship Type="http://schemas.openxmlformats.org/officeDocument/2006/relationships/image" Target="/ppt/media/image4.png" Id="R5631cf6d144c4318" /><Relationship Type="http://schemas.openxmlformats.org/officeDocument/2006/relationships/image" Target="/ppt/media/image5.svg" Id="R3e9367717feb41a4" /><Relationship Type="http://schemas.openxmlformats.org/officeDocument/2006/relationships/notesSlide" Target="/ppt/notesSlides/notesSlide4.xml" Id="Rc235740b695e41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40fc80948a41d6" /><Relationship Type="http://schemas.openxmlformats.org/officeDocument/2006/relationships/image" Target="/ppt/media/image5.png" Id="R3960db476aa3429c" /><Relationship Type="http://schemas.openxmlformats.org/officeDocument/2006/relationships/image" Target="/ppt/media/image6.svg" Id="Re17a551dcdce4b74" /><Relationship Type="http://schemas.openxmlformats.org/officeDocument/2006/relationships/notesSlide" Target="/ppt/notesSlides/notesSlide5.xml" Id="Rab8943a886944e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0709b48af47e6" /><Relationship Type="http://schemas.openxmlformats.org/officeDocument/2006/relationships/image" Target="/ppt/media/image6.png" Id="R18afc9e38f4b4468" /><Relationship Type="http://schemas.openxmlformats.org/officeDocument/2006/relationships/image" Target="/ppt/media/image7.svg" Id="Ra65e3be888f844c3" /><Relationship Type="http://schemas.openxmlformats.org/officeDocument/2006/relationships/notesSlide" Target="/ppt/notesSlides/notesSlide6.xml" Id="R7b5dd6213c2d44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5e11cdcec347e2" /><Relationship Type="http://schemas.openxmlformats.org/officeDocument/2006/relationships/image" Target="/ppt/media/image2.jpeg" Id="Rf214a597923e4dc3" /><Relationship Type="http://schemas.openxmlformats.org/officeDocument/2006/relationships/image" Target="/ppt/media/image7.png" Id="R7f0f14e4578c4faa" /><Relationship Type="http://schemas.openxmlformats.org/officeDocument/2006/relationships/image" Target="/ppt/media/image8.svg" Id="Rdedfdb34e79f45ea" /><Relationship Type="http://schemas.openxmlformats.org/officeDocument/2006/relationships/notesSlide" Target="/ppt/notesSlides/notesSlide7.xml" Id="Rec1e4f6a4f654a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e129b6f4454510" /><Relationship Type="http://schemas.openxmlformats.org/officeDocument/2006/relationships/hyperlink" Target="https://dev.203.io/" TargetMode="External" Id="R9c00d23e17724f4e" /><Relationship Type="http://schemas.openxmlformats.org/officeDocument/2006/relationships/image" Target="/ppt/media/image8.png" Id="R31a7e186a2bd41c1" /><Relationship Type="http://schemas.openxmlformats.org/officeDocument/2006/relationships/image" Target="/ppt/media/image9.svg" Id="R58b2d26f89ad4208" /><Relationship Type="http://schemas.openxmlformats.org/officeDocument/2006/relationships/notesSlide" Target="/ppt/notesSlides/notesSlide8.xml" Id="R28c9658870f44a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07e8b7490c460b" /><Relationship Type="http://schemas.openxmlformats.org/officeDocument/2006/relationships/image" Target="/ppt/media/image7.png" Id="R18f5498f709f403d" /><Relationship Type="http://schemas.openxmlformats.org/officeDocument/2006/relationships/image" Target="/ppt/media/image8.png" Id="R2650d3a6178849b7" /><Relationship Type="http://schemas.openxmlformats.org/officeDocument/2006/relationships/image" Target="/ppt/media/image9.png" Id="R4e79aee4ecbc4949" /><Relationship Type="http://schemas.openxmlformats.org/officeDocument/2006/relationships/image" Target="/ppt/media/image10.svg" Id="R7b2ec487c69f4eb7" /><Relationship Type="http://schemas.openxmlformats.org/officeDocument/2006/relationships/notesSlide" Target="/ppt/notesSlides/notesSlide9.xml" Id="R663a082565894c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90e5a5f3614ff2" /><Relationship Type="http://schemas.openxmlformats.org/officeDocument/2006/relationships/image" Target="/ppt/media/image10.png" Id="R1339e017bd38432f" /><Relationship Type="http://schemas.openxmlformats.org/officeDocument/2006/relationships/image" Target="/ppt/media/image11.svg" Id="R80f470ae3d574cef" /><Relationship Type="http://schemas.openxmlformats.org/officeDocument/2006/relationships/notesSlide" Target="/ppt/notesSlides/notesSlide10.xml" Id="R15ad3966644940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c723ad0c0f4be6" /><Relationship Type="http://schemas.openxmlformats.org/officeDocument/2006/relationships/image" Target="/ppt/media/image11.png" Id="Ra61551a72d78490a" /><Relationship Type="http://schemas.openxmlformats.org/officeDocument/2006/relationships/image" Target="/ppt/media/image12.svg" Id="Re9b5b44dbf4245a4" /><Relationship Type="http://schemas.openxmlformats.org/officeDocument/2006/relationships/notesSlide" Target="/ppt/notesSlides/notesSlide11.xml" Id="R51fb654d0ba84a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rom Your Ideas">
            <a:extLst xmlns:a="http://schemas.openxmlformats.org/drawingml/2006/main">
              <a:ext uri="{FF2B5EF4-FFF2-40B4-BE49-F238E27FC236}">
                <a16:creationId xmlns:a16="http://schemas.microsoft.com/office/drawing/2014/main" id="{6FB7D0CA-B32D-4799-8659-D6811ABD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从你的创意到个性化硬件</a:t>
            </a:r>
          </a:p>
        </p:txBody>
      </p:sp>
      <p:sp>
        <p:nvSpPr>
          <p:cNvPr id="2" name="to Personalized Hardware">
            <a:extLst xmlns:a="http://schemas.openxmlformats.org/drawingml/2006/main">
              <a:ext uri="{FF2B5EF4-FFF2-40B4-BE49-F238E27FC236}">
                <a16:creationId xmlns:a16="http://schemas.microsoft.com/office/drawing/2014/main" id="{D57ADAC4-27E3-4CD7-A57B-71D4A0B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7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From Your Ideas to Personalized Hardware</a:t>
            </a:r>
          </a:p>
        </p:txBody>
      </p:sp>
      <p:sp>
        <p:nvSpPr>
          <p:cNvPr id="3" name="从你的创意到个性化硬件">
            <a:extLst xmlns:a="http://schemas.openxmlformats.org/drawingml/2006/main">
              <a:ext uri="{FF2B5EF4-FFF2-40B4-BE49-F238E27FC236}">
                <a16:creationId xmlns:a16="http://schemas.microsoft.com/office/drawing/2014/main" id="{EB5284A4-79C0-4CD9-97E1-6E2FE33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5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基于开放硬件的 AI 辅助创作</a:t>
            </a:r>
          </a:p>
        </p:txBody>
      </p:sp>
      <p:sp>
        <p:nvSpPr>
          <p:cNvPr id="4" name="Creating with AI on Open Hardware">
            <a:extLst xmlns:a="http://schemas.openxmlformats.org/drawingml/2006/main">
              <a:ext uri="{FF2B5EF4-FFF2-40B4-BE49-F238E27FC236}">
                <a16:creationId xmlns:a16="http://schemas.microsoft.com/office/drawing/2014/main" id="{C04F734F-20F4-4951-AE18-4090AEC6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Creating with AI on Open Hardware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80CFA-9BC3-414F-9628-48BA3A3CC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51e3b372246e9">
            <a:extLst>
              <a:ext uri="{96DAC541-7B7A-43D3-8B79-37D633B846F1}">
                <asvg:svgBlip xmlns:asvg="http://schemas.microsoft.com/office/drawing/2016/SVG/main" r:embed="R80b4251d82ac40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4B6E1B-0FCA-473D-BFFA-34CA761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0950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音乐设备的玩法， 正在被用户改写">
            <a:extLst xmlns:a="http://schemas.openxmlformats.org/drawingml/2006/main">
              <a:ext uri="{FF2B5EF4-FFF2-40B4-BE49-F238E27FC236}">
                <a16:creationId xmlns:a16="http://schemas.microsoft.com/office/drawing/2014/main" id="{6285D93A-9BE5-4A5C-A89C-34D1BCD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71680"/>
            <a:ext cx="10667520" cy="135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9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音乐设备的玩法，</a:t>
            </a:r>
            <a:endParaRPr sz="3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9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正在被用户改写</a:t>
            </a:r>
            <a:endParaRPr sz="3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AI Coding">
            <a:extLst xmlns:a="http://schemas.openxmlformats.org/drawingml/2006/main">
              <a:ext uri="{FF2B5EF4-FFF2-40B4-BE49-F238E27FC236}">
                <a16:creationId xmlns:a16="http://schemas.microsoft.com/office/drawing/2014/main" id="{2A1DFB91-DA23-4BE6-9BFB-C0BC16D9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2400480"/>
            <a:ext cx="5428800" cy="80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8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Coding</a:t>
            </a:r>
            <a:endParaRPr sz="4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让更多创作者参与功能开发">
            <a:extLst xmlns:a="http://schemas.openxmlformats.org/drawingml/2006/main">
              <a:ext uri="{FF2B5EF4-FFF2-40B4-BE49-F238E27FC236}">
                <a16:creationId xmlns:a16="http://schemas.microsoft.com/office/drawing/2014/main" id="{1F83C3CE-CC84-4597-89F8-9DABBE0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3438360"/>
            <a:ext cx="5285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让更多创作者参与功能开发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一个例子">
            <a:extLst xmlns:a="http://schemas.openxmlformats.org/drawingml/2006/main">
              <a:ext uri="{FF2B5EF4-FFF2-40B4-BE49-F238E27FC236}">
                <a16:creationId xmlns:a16="http://schemas.microsoft.com/office/drawing/2014/main" id="{B896360F-CC21-4B93-9920-B4499AB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4514760"/>
            <a:ext cx="380952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一个例子</a:t>
            </a:r>
            <a:endParaRPr sz="1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M-VAVE FM-1 · Felucca">
            <a:extLst xmlns:a="http://schemas.openxmlformats.org/drawingml/2006/main">
              <a:ext uri="{FF2B5EF4-FFF2-40B4-BE49-F238E27FC236}">
                <a16:creationId xmlns:a16="http://schemas.microsoft.com/office/drawing/2014/main" id="{93E4F7A9-2BF9-40E8-A4BE-C9D69F0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4952880"/>
            <a:ext cx="5714640" cy="44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M-VAVE FM-1 · Felucca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社区定制固件，明确采用 AI 编程辅助">
            <a:extLst xmlns:a="http://schemas.openxmlformats.org/drawingml/2006/main">
              <a:ext uri="{FF2B5EF4-FFF2-40B4-BE49-F238E27FC236}">
                <a16:creationId xmlns:a16="http://schemas.microsoft.com/office/drawing/2014/main" id="{1FB62BF2-9CA0-4406-9FDA-9D74F0C9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5543640"/>
            <a:ext cx="600048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社区定制固件，明确采用 </a:t>
            </a: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AI </a:t>
            </a: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编程辅助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E28EC-876D-4AF2-8F81-63B110E5ED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51c08a1894a86"/>
          <a:srcRect xmlns:a="http://schemas.openxmlformats.org/drawingml/2006/main" l="20003" t="0" r="20003" b="69004"/>
          <a:stretch xmlns:a="http://schemas.openxmlformats.org/drawingml/2006/main"/>
        </p:blipFill>
        <p:spPr>
          <a:xfrm xmlns:a="http://schemas.openxmlformats.org/drawingml/2006/main">
            <a:off x="6991200" y="2286000"/>
            <a:ext cx="4333680" cy="2685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1" name="Felucca 项目文档">
            <a:extLst xmlns:a="http://schemas.openxmlformats.org/drawingml/2006/main">
              <a:ext uri="{FF2B5EF4-FFF2-40B4-BE49-F238E27FC236}">
                <a16:creationId xmlns:a16="http://schemas.microsoft.com/office/drawing/2014/main" id="{A57292FD-9257-43EB-8EFF-C8637A0F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960" y="5238720"/>
            <a:ext cx="41907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 u="sng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  <a:hlinkClick xmlns:r="http://schemas.openxmlformats.org/officeDocument/2006/relationships" r:id="Re02568774aa04801"/>
              </a:rPr>
              <a:t>Felucca 项目文档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4E6808-D395-4364-8EEA-374FDE7B2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28dd1bb2c4c62">
            <a:extLst>
              <a:ext uri="{96DAC541-7B7A-43D3-8B79-37D633B846F1}">
                <asvg:svgBlip xmlns:asvg="http://schemas.microsoft.com/office/drawing/2016/SVG/main" r:embed="R35f76656f56c47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3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5606BC-3455-467F-ADA8-181264B0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8458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203 接近十年的准备">
            <a:extLst xmlns:a="http://schemas.openxmlformats.org/drawingml/2006/main">
              <a:ext uri="{FF2B5EF4-FFF2-40B4-BE49-F238E27FC236}">
                <a16:creationId xmlns:a16="http://schemas.microsoft.com/office/drawing/2014/main" id="{F2FC6CBD-4209-4C3C-92E9-48DD8E8F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52600"/>
            <a:ext cx="10572480" cy="62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203 </a:t>
            </a: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接近十年的准备</a:t>
            </a:r>
            <a:endParaRPr sz="34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近 10 年">
            <a:extLst xmlns:a="http://schemas.openxmlformats.org/drawingml/2006/main">
              <a:ext uri="{FF2B5EF4-FFF2-40B4-BE49-F238E27FC236}">
                <a16:creationId xmlns:a16="http://schemas.microsoft.com/office/drawing/2014/main" id="{1E61BAD1-165D-4239-B8C7-6F601E3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00" y="1762200"/>
            <a:ext cx="5905080" cy="135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近 </a:t>
            </a: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10 </a:t>
            </a: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年</a:t>
            </a:r>
            <a:endParaRPr sz="7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我们持续思考同一个问题">
            <a:extLst xmlns:a="http://schemas.openxmlformats.org/drawingml/2006/main">
              <a:ext uri="{FF2B5EF4-FFF2-40B4-BE49-F238E27FC236}">
                <a16:creationId xmlns:a16="http://schemas.microsoft.com/office/drawing/2014/main" id="{B39BF761-630B-4637-8171-1025BF61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3524400"/>
            <a:ext cx="5905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4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我们持续思考同一个问题</a:t>
            </a:r>
            <a:endParaRPr sz="2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如何让用户持续定义 自己手中的工具">
            <a:extLst xmlns:a="http://schemas.openxmlformats.org/drawingml/2006/main">
              <a:ext uri="{FF2B5EF4-FFF2-40B4-BE49-F238E27FC236}">
                <a16:creationId xmlns:a16="http://schemas.microsoft.com/office/drawing/2014/main" id="{0629E7AE-B2E7-40FD-B11A-9DF0C15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4238640"/>
            <a:ext cx="6190920" cy="110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如何让用户持续定义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自己手中的工具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489389-7ECE-47D7-88F0-A27E13CCCE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ba6ba78fd43b0"/>
          <a:stretch xmlns:a="http://schemas.openxmlformats.org/drawingml/2006/main"/>
        </p:blipFill>
        <p:spPr>
          <a:xfrm xmlns:a="http://schemas.openxmlformats.org/drawingml/2006/main">
            <a:off x="7553160" y="1714680"/>
            <a:ext cx="4000320" cy="3333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8" name="Matrix Founder Edition">
            <a:extLst xmlns:a="http://schemas.openxmlformats.org/drawingml/2006/main">
              <a:ext uri="{FF2B5EF4-FFF2-40B4-BE49-F238E27FC236}">
                <a16:creationId xmlns:a16="http://schemas.microsoft.com/office/drawing/2014/main" id="{BC37B776-AFDD-4516-98F6-8C29127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160" y="5315040"/>
            <a:ext cx="400032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Matrix Founder Edition</a:t>
            </a:r>
            <a:endParaRPr sz="1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90ACE5-265D-45D2-9530-8EE4439BA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fd8007894333">
            <a:extLst>
              <a:ext uri="{96DAC541-7B7A-43D3-8B79-37D633B846F1}">
                <asvg:svgBlip xmlns:asvg="http://schemas.microsoft.com/office/drawing/2016/SVG/main" r:embed="R9ff8d83dbb774b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4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D86FE9-E72B-4F42-ACEC-CBE5D3A6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9826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EAD4B4-1E68-462C-A1B8-EAF75595C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ad06f279f455f">
            <a:extLst>
              <a:ext uri="{96DAC541-7B7A-43D3-8B79-37D633B846F1}">
                <asvg:svgBlip xmlns:asvg="http://schemas.microsoft.com/office/drawing/2016/SVG/main" r:embed="R5f818b4f97764bb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9125" y="571500"/>
            <a:ext cx="493395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1" name="面向软件定义控制器的开放系统">
            <a:extLst xmlns:a="http://schemas.openxmlformats.org/drawingml/2006/main">
              <a:ext uri="{FF2B5EF4-FFF2-40B4-BE49-F238E27FC236}">
                <a16:creationId xmlns:a16="http://schemas.microsoft.com/office/drawing/2014/main" id="{32146352-828B-4179-9B57-11C44FAE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52480"/>
            <a:ext cx="105724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面向软件定义控制器的开放系统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硬件">
            <a:extLst xmlns:a="http://schemas.openxmlformats.org/drawingml/2006/main">
              <a:ext uri="{FF2B5EF4-FFF2-40B4-BE49-F238E27FC236}">
                <a16:creationId xmlns:a16="http://schemas.microsoft.com/office/drawing/2014/main" id="{ACE80994-5B9D-42F2-A098-1F8C8FEA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2876400"/>
            <a:ext cx="2381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硬件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系统">
            <a:extLst xmlns:a="http://schemas.openxmlformats.org/drawingml/2006/main">
              <a:ext uri="{FF2B5EF4-FFF2-40B4-BE49-F238E27FC236}">
                <a16:creationId xmlns:a16="http://schemas.microsoft.com/office/drawing/2014/main" id="{7037B384-CDD8-4850-8027-3FF3FE1C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3819600"/>
            <a:ext cx="2381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系统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开发者">
            <a:extLst xmlns:a="http://schemas.openxmlformats.org/drawingml/2006/main">
              <a:ext uri="{FF2B5EF4-FFF2-40B4-BE49-F238E27FC236}">
                <a16:creationId xmlns:a16="http://schemas.microsoft.com/office/drawing/2014/main" id="{BDAEAB0A-A04E-4451-8332-31E00A8D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762440"/>
            <a:ext cx="2381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开发者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Mystrix 的输入、灯光与连接能力">
            <a:extLst xmlns:a="http://schemas.openxmlformats.org/drawingml/2006/main">
              <a:ext uri="{FF2B5EF4-FFF2-40B4-BE49-F238E27FC236}">
                <a16:creationId xmlns:a16="http://schemas.microsoft.com/office/drawing/2014/main" id="{218AD02F-D2C1-4440-8766-DCF6EE93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720" y="2895480"/>
            <a:ext cx="7943400" cy="43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Mystrix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的输入、灯光与连接能力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公开 API、Python 与 C++ 开发入口">
            <a:extLst xmlns:a="http://schemas.openxmlformats.org/drawingml/2006/main">
              <a:ext uri="{FF2B5EF4-FFF2-40B4-BE49-F238E27FC236}">
                <a16:creationId xmlns:a16="http://schemas.microsoft.com/office/drawing/2014/main" id="{75578FFE-9B22-47CB-9D3A-E335F551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720" y="3838680"/>
            <a:ext cx="7943400" cy="43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公开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API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、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Python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C++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开发入口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官方文档、示例与网页开发工具包">
            <a:extLst xmlns:a="http://schemas.openxmlformats.org/drawingml/2006/main">
              <a:ext uri="{FF2B5EF4-FFF2-40B4-BE49-F238E27FC236}">
                <a16:creationId xmlns:a16="http://schemas.microsoft.com/office/drawing/2014/main" id="{656E04B4-1204-4288-B8E3-61171059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720" y="4781520"/>
            <a:ext cx="7943400" cy="43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官方文档、示例与网页开发工具包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让自己的应用，使用设备已有的能力">
            <a:extLst xmlns:a="http://schemas.openxmlformats.org/drawingml/2006/main">
              <a:ext uri="{FF2B5EF4-FFF2-40B4-BE49-F238E27FC236}">
                <a16:creationId xmlns:a16="http://schemas.microsoft.com/office/drawing/2014/main" id="{2C3452E3-58B9-4AF5-A2C1-2FA863BE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877000"/>
            <a:ext cx="1047708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让自己的应用，使用设备已有的能力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846EFE-F500-4D71-B7AD-BAFBD36DA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1cf6d144c4318">
            <a:extLst>
              <a:ext uri="{96DAC541-7B7A-43D3-8B79-37D633B846F1}">
                <asvg:svgBlip xmlns:asvg="http://schemas.microsoft.com/office/drawing/2016/SVG/main" r:embed="R3e9367717feb41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5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E35D7F-C350-454A-95C9-D260890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2034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原生支持，让开发更容易持续">
            <a:extLst xmlns:a="http://schemas.openxmlformats.org/drawingml/2006/main">
              <a:ext uri="{FF2B5EF4-FFF2-40B4-BE49-F238E27FC236}">
                <a16:creationId xmlns:a16="http://schemas.microsoft.com/office/drawing/2014/main" id="{D240E045-FEBB-4687-BB1E-365E940B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52600"/>
            <a:ext cx="109533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原生开放开发的基础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基于封闭平台的第三方适配">
            <a:extLst xmlns:a="http://schemas.openxmlformats.org/drawingml/2006/main">
              <a:ext uri="{FF2B5EF4-FFF2-40B4-BE49-F238E27FC236}">
                <a16:creationId xmlns:a16="http://schemas.microsoft.com/office/drawing/2014/main" id="{1E1B32E4-3C11-4202-BB82-DB12247A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90640"/>
            <a:ext cx="50954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70" b="1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基于封闭平台的第三方适配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MatrixOS 的开发基础">
            <a:extLst xmlns:a="http://schemas.openxmlformats.org/drawingml/2006/main">
              <a:ext uri="{FF2B5EF4-FFF2-40B4-BE49-F238E27FC236}">
                <a16:creationId xmlns:a16="http://schemas.microsoft.com/office/drawing/2014/main" id="{C89A5415-540D-4FD0-BDDB-CED6E9E6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1790640"/>
            <a:ext cx="50479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7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MatrixOS </a:t>
            </a:r>
            <a:r>
              <a:rPr sz="217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的开发基础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接口可能依赖逆向或社区整理">
            <a:extLst xmlns:a="http://schemas.openxmlformats.org/drawingml/2006/main">
              <a:ext uri="{FF2B5EF4-FFF2-40B4-BE49-F238E27FC236}">
                <a16:creationId xmlns:a16="http://schemas.microsoft.com/office/drawing/2014/main" id="{DE76C1C9-D1BD-402B-9DC0-DADD616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2695680"/>
            <a:ext cx="514332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接口可能依赖逆向或社区整理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需要自行建立测试与调试路径">
            <a:extLst xmlns:a="http://schemas.openxmlformats.org/drawingml/2006/main">
              <a:ext uri="{FF2B5EF4-FFF2-40B4-BE49-F238E27FC236}">
                <a16:creationId xmlns:a16="http://schemas.microsoft.com/office/drawing/2014/main" id="{00E50A52-CB52-41D5-9C5B-8B2F144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3600360"/>
            <a:ext cx="514332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需要自行建立测试与调试路径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升级后的适配，往往由项目承担">
            <a:extLst xmlns:a="http://schemas.openxmlformats.org/drawingml/2006/main">
              <a:ext uri="{FF2B5EF4-FFF2-40B4-BE49-F238E27FC236}">
                <a16:creationId xmlns:a16="http://schemas.microsoft.com/office/drawing/2014/main" id="{0A91CCA6-E82D-43E9-A9E2-56EA47E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505400"/>
            <a:ext cx="514332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升级后的适配，往往由项目承担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官方 API 与配套文档">
            <a:extLst xmlns:a="http://schemas.openxmlformats.org/drawingml/2006/main">
              <a:ext uri="{FF2B5EF4-FFF2-40B4-BE49-F238E27FC236}">
                <a16:creationId xmlns:a16="http://schemas.microsoft.com/office/drawing/2014/main" id="{FE6AC215-4A86-453D-935B-D087780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2695680"/>
            <a:ext cx="519084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官方 </a:t>
            </a: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API </a:t>
            </a: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与配套文档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网页开发工具包与实机验证">
            <a:extLst xmlns:a="http://schemas.openxmlformats.org/drawingml/2006/main">
              <a:ext uri="{FF2B5EF4-FFF2-40B4-BE49-F238E27FC236}">
                <a16:creationId xmlns:a16="http://schemas.microsoft.com/office/drawing/2014/main" id="{DF95C300-D08D-4F6D-9968-7D1E9AA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3600360"/>
            <a:ext cx="519084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原生开发和测试环境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系统、接口与文档协同演进">
            <a:extLst xmlns:a="http://schemas.openxmlformats.org/drawingml/2006/main">
              <a:ext uri="{FF2B5EF4-FFF2-40B4-BE49-F238E27FC236}">
                <a16:creationId xmlns:a16="http://schemas.microsoft.com/office/drawing/2014/main" id="{3DB8AD4F-8590-4120-80C8-B20D37D8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4505400"/>
            <a:ext cx="519084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系统、接口与文档协同演进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开发者把更多时间，用在自己的应用上">
            <a:extLst xmlns:a="http://schemas.openxmlformats.org/drawingml/2006/main">
              <a:ext uri="{FF2B5EF4-FFF2-40B4-BE49-F238E27FC236}">
                <a16:creationId xmlns:a16="http://schemas.microsoft.com/office/drawing/2014/main" id="{36D8C733-E75D-4BD3-A8E2-172DB96D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800680"/>
            <a:ext cx="10667520" cy="44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开发者把更多时间，用在自己的应用上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10CE9E-5AD8-454F-A480-C7B160C42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0db476aa3429c">
            <a:extLst>
              <a:ext uri="{96DAC541-7B7A-43D3-8B79-37D633B846F1}">
                <asvg:svgBlip xmlns:asvg="http://schemas.microsoft.com/office/drawing/2016/SVG/main" r:embed="Re17a551dcdce4b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6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AB5EBD-6FEA-4450-9FE3-44F8381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4325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mo">
            <a:extLst xmlns:a="http://schemas.openxmlformats.org/drawingml/2006/main">
              <a:ext uri="{FF2B5EF4-FFF2-40B4-BE49-F238E27FC236}">
                <a16:creationId xmlns:a16="http://schemas.microsoft.com/office/drawing/2014/main" id="{5B27F80A-A09F-4B87-AAA5-6204A2E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Demo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34388-9E6E-4058-9EB7-8246C5624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fc9e38f4b4468">
            <a:extLst>
              <a:ext uri="{96DAC541-7B7A-43D3-8B79-37D633B846F1}">
                <asvg:svgBlip xmlns:asvg="http://schemas.microsoft.com/office/drawing/2016/SVG/main" r:embed="Ra65e3be888f844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2556F6-259C-406C-9DAC-5D64038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3230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演示一">
            <a:extLst xmlns:a="http://schemas.openxmlformats.org/drawingml/2006/main">
              <a:ext uri="{FF2B5EF4-FFF2-40B4-BE49-F238E27FC236}">
                <a16:creationId xmlns:a16="http://schemas.microsoft.com/office/drawing/2014/main" id="{AC7B891F-4458-48EE-8695-8A8FAFC1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14440"/>
            <a:ext cx="3333240" cy="31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729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演示一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和弦涟漪">
            <a:extLst xmlns:a="http://schemas.openxmlformats.org/drawingml/2006/main">
              <a:ext uri="{FF2B5EF4-FFF2-40B4-BE49-F238E27FC236}">
                <a16:creationId xmlns:a16="http://schemas.microsoft.com/office/drawing/2014/main" id="{01B3CE54-A164-4D09-905B-EEA9FC21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162080"/>
            <a:ext cx="10762920" cy="76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6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和弦涟漪</a:t>
            </a:r>
            <a:endParaRPr sz="4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一句想法，一件可以演奏的工具">
            <a:extLst xmlns:a="http://schemas.openxmlformats.org/drawingml/2006/main">
              <a:ext uri="{FF2B5EF4-FFF2-40B4-BE49-F238E27FC236}">
                <a16:creationId xmlns:a16="http://schemas.microsoft.com/office/drawing/2014/main" id="{D830A1A1-EC81-4C53-B818-37AA0F62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2124000"/>
            <a:ext cx="1076292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一句想法，一件可以演奏的工具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27500A-D981-4CF0-845B-4C4B3033E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4a597923e4dc3"/>
          <a:stretch xmlns:a="http://schemas.openxmlformats.org/drawingml/2006/main"/>
        </p:blipFill>
        <p:spPr>
          <a:xfrm xmlns:a="http://schemas.openxmlformats.org/drawingml/2006/main">
            <a:off x="6238800" y="3126600"/>
            <a:ext cx="5362200" cy="2680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5" name="按下格子，演奏和弦 松开停止，灯光向外扩散">
            <a:extLst xmlns:a="http://schemas.openxmlformats.org/drawingml/2006/main">
              <a:ext uri="{FF2B5EF4-FFF2-40B4-BE49-F238E27FC236}">
                <a16:creationId xmlns:a16="http://schemas.microsoft.com/office/drawing/2014/main" id="{2549761F-40E6-477D-A6B8-8A641CC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3181320"/>
            <a:ext cx="539064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按下格子，演奏和弦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松开停止，灯光向外扩散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大调与小调，一键切换">
            <a:extLst xmlns:a="http://schemas.openxmlformats.org/drawingml/2006/main">
              <a:ext uri="{FF2B5EF4-FFF2-40B4-BE49-F238E27FC236}">
                <a16:creationId xmlns:a16="http://schemas.microsoft.com/office/drawing/2014/main" id="{F87A0705-6284-4649-BC64-CDBA08C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448160"/>
            <a:ext cx="533376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大调与小调，一键切换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Codex 查阅 Wiki，依据 Python API 实现">
            <a:extLst xmlns:a="http://schemas.openxmlformats.org/drawingml/2006/main">
              <a:ext uri="{FF2B5EF4-FFF2-40B4-BE49-F238E27FC236}">
                <a16:creationId xmlns:a16="http://schemas.microsoft.com/office/drawing/2014/main" id="{D0B68161-0BF4-4DC1-ACE2-9E8A4CD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524560"/>
            <a:ext cx="5333760" cy="62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Codex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查阅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Wiki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，依据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Python API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实现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9070D8-B9CA-411F-A12C-695A263236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f14e4578c4faa">
            <a:extLst>
              <a:ext uri="{96DAC541-7B7A-43D3-8B79-37D633B846F1}">
                <asvg:svgBlip xmlns:asvg="http://schemas.microsoft.com/office/drawing/2016/SVG/main" r:embed="Rdedfdb34e79f45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7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D540AB-78A4-4554-B974-E73010B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09061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演示二">
            <a:extLst xmlns:a="http://schemas.openxmlformats.org/drawingml/2006/main">
              <a:ext uri="{FF2B5EF4-FFF2-40B4-BE49-F238E27FC236}">
                <a16:creationId xmlns:a16="http://schemas.microsoft.com/office/drawing/2014/main" id="{A6E079FF-A811-4FBF-8F2C-2A9D075C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14440"/>
            <a:ext cx="3333240" cy="31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729" b="1" u="none" strike="noStrike">
                <a:solidFill>
                  <a:srgbClr val="ED4EC4"/>
                </a:solidFill>
                <a:latin typeface="HarmonyOS Sans SC"/>
                <a:ea typeface="HarmonyOS Sans SC"/>
                <a:cs typeface="HarmonyOS Sans SC"/>
              </a:rPr>
              <a:t>演示二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同一个应用， 在浏览器里运行">
            <a:extLst xmlns:a="http://schemas.openxmlformats.org/drawingml/2006/main">
              <a:ext uri="{FF2B5EF4-FFF2-40B4-BE49-F238E27FC236}">
                <a16:creationId xmlns:a16="http://schemas.microsoft.com/office/drawing/2014/main" id="{690B2F07-BE4F-4900-98CD-8D4BCADE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152360"/>
            <a:ext cx="10953360" cy="139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同一个应用，</a:t>
            </a:r>
            <a:endParaRPr sz="4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在浏览器里运行</a:t>
            </a:r>
            <a:endParaRPr sz="4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dev.203.io">
            <a:extLst xmlns:a="http://schemas.openxmlformats.org/drawingml/2006/main">
              <a:ext uri="{FF2B5EF4-FFF2-40B4-BE49-F238E27FC236}">
                <a16:creationId xmlns:a16="http://schemas.microsoft.com/office/drawing/2014/main" id="{83B431F7-3255-485B-A67E-AFB2AB8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067200"/>
            <a:ext cx="10762920" cy="119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7200" b="1" u="sng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  <a:hlinkClick xmlns:r="http://schemas.openxmlformats.org/officeDocument/2006/relationships" r:id="R9c00d23e17724f4e"/>
              </a:rPr>
              <a:t>dev.203.io</a:t>
            </a:r>
            <a:endParaRPr sz="7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运行应用，观察效果，再修改一个想法">
            <a:extLst xmlns:a="http://schemas.openxmlformats.org/drawingml/2006/main">
              <a:ext uri="{FF2B5EF4-FFF2-40B4-BE49-F238E27FC236}">
                <a16:creationId xmlns:a16="http://schemas.microsoft.com/office/drawing/2014/main" id="{153CCC28-2F82-47F5-8EC5-B3DD0F5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552920"/>
            <a:ext cx="108010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47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运行应用，观察效果，再修改一个想法</a:t>
            </a:r>
            <a:endParaRPr sz="247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没有实物，也可以先开始创作">
            <a:extLst xmlns:a="http://schemas.openxmlformats.org/drawingml/2006/main">
              <a:ext uri="{FF2B5EF4-FFF2-40B4-BE49-F238E27FC236}">
                <a16:creationId xmlns:a16="http://schemas.microsoft.com/office/drawing/2014/main" id="{E116584A-132C-4A0C-9589-6C249675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553000"/>
            <a:ext cx="108010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4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先让想法跑起来，钱包晚一点参与。</a:t>
            </a:r>
            <a:endParaRPr sz="2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03F190-FD52-4C4D-8440-7C1673333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7e186a2bd41c1">
            <a:extLst>
              <a:ext uri="{96DAC541-7B7A-43D3-8B79-37D633B846F1}">
                <asvg:svgBlip xmlns:asvg="http://schemas.microsoft.com/office/drawing/2016/SVG/main" r:embed="R58b2d26f89ad42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7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BC28D26-D2DC-473E-BAF9-35EF9F7E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827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203 的产品与下一步">
            <a:extLst xmlns:a="http://schemas.openxmlformats.org/drawingml/2006/main">
              <a:ext uri="{FF2B5EF4-FFF2-40B4-BE49-F238E27FC236}">
                <a16:creationId xmlns:a16="http://schemas.microsoft.com/office/drawing/2014/main" id="{D5BD2DD8-EE86-4899-B582-0F789C7F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495360"/>
            <a:ext cx="10858320" cy="63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203 </a:t>
            </a: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的产品与下一步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267D85-8FFA-45B6-81AE-12E954096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5498f709f403d"/>
          <a:stretch xmlns:a="http://schemas.openxmlformats.org/drawingml/2006/main"/>
        </p:blipFill>
        <p:spPr>
          <a:xfrm xmlns:a="http://schemas.openxmlformats.org/drawingml/2006/main">
            <a:off x="923760" y="1467000"/>
            <a:ext cx="3428640" cy="3428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8E4321-1CCF-4711-9F9E-18D380D01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0d3a6178849b7"/>
          <a:stretch xmlns:a="http://schemas.openxmlformats.org/drawingml/2006/main"/>
        </p:blipFill>
        <p:spPr>
          <a:xfrm xmlns:a="http://schemas.openxmlformats.org/drawingml/2006/main">
            <a:off x="6286680" y="1467000"/>
            <a:ext cx="3428640" cy="3428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8" name="Mystrix / Mystrix Pro">
            <a:extLst xmlns:a="http://schemas.openxmlformats.org/drawingml/2006/main">
              <a:ext uri="{FF2B5EF4-FFF2-40B4-BE49-F238E27FC236}">
                <a16:creationId xmlns:a16="http://schemas.microsoft.com/office/drawing/2014/main" id="{0BE692D4-9C01-4377-9361-5EECBE3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60" y="5114880"/>
            <a:ext cx="509544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32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Mystrix / Mystrix Pro</a:t>
            </a:r>
            <a:endParaRPr sz="23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可编程网格控制器">
            <a:extLst xmlns:a="http://schemas.openxmlformats.org/drawingml/2006/main">
              <a:ext uri="{FF2B5EF4-FFF2-40B4-BE49-F238E27FC236}">
                <a16:creationId xmlns:a16="http://schemas.microsoft.com/office/drawing/2014/main" id="{387B079F-A2B6-4822-9961-658C8A6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60" y="5619600"/>
            <a:ext cx="509544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可编程网格控制器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NullPerator">
            <a:extLst xmlns:a="http://schemas.openxmlformats.org/drawingml/2006/main">
              <a:ext uri="{FF2B5EF4-FFF2-40B4-BE49-F238E27FC236}">
                <a16:creationId xmlns:a16="http://schemas.microsoft.com/office/drawing/2014/main" id="{667F1132-3085-4499-BF56-79F9102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80" y="5114880"/>
            <a:ext cx="476208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32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NullPerator</a:t>
            </a:r>
            <a:endParaRPr sz="23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便携音乐创作设备，持续开发中">
            <a:extLst xmlns:a="http://schemas.openxmlformats.org/drawingml/2006/main">
              <a:ext uri="{FF2B5EF4-FFF2-40B4-BE49-F238E27FC236}">
                <a16:creationId xmlns:a16="http://schemas.microsoft.com/office/drawing/2014/main" id="{39E081D6-B77A-41B9-9BE3-4E9B9BBB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80" y="5619600"/>
            <a:ext cx="509544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便携音乐创作设备，持续开发中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E0A8426-0DC5-4E0F-9D22-036962C6C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9aee4ecbc4949">
            <a:extLst>
              <a:ext uri="{96DAC541-7B7A-43D3-8B79-37D633B846F1}">
                <asvg:svgBlip xmlns:asvg="http://schemas.microsoft.com/office/drawing/2016/SVG/main" r:embed="R7b2ec487c69f4e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8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419460-543E-4276-8355-9943E45D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5555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让更多创意，拥有合适的硬件">
            <a:extLst xmlns:a="http://schemas.openxmlformats.org/drawingml/2006/main">
              <a:ext uri="{FF2B5EF4-FFF2-40B4-BE49-F238E27FC236}">
                <a16:creationId xmlns:a16="http://schemas.microsoft.com/office/drawing/2014/main" id="{4F42898E-FEBE-40E3-A117-F03749D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33520"/>
            <a:ext cx="11000880" cy="65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让更多创意，拥有合适的硬件</a:t>
            </a:r>
            <a:endParaRPr sz="34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更多工具形态 更广价格覆盖">
            <a:extLst xmlns:a="http://schemas.openxmlformats.org/drawingml/2006/main">
              <a:ext uri="{FF2B5EF4-FFF2-40B4-BE49-F238E27FC236}">
                <a16:creationId xmlns:a16="http://schemas.microsoft.com/office/drawing/2014/main" id="{CACF8333-DA81-46BE-BBFE-DC08EB4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809720"/>
            <a:ext cx="6048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更多工具形态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更广价格覆盖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让作品更容易分享、复用与继续开发">
            <a:extLst xmlns:a="http://schemas.openxmlformats.org/drawingml/2006/main">
              <a:ext uri="{FF2B5EF4-FFF2-40B4-BE49-F238E27FC236}">
                <a16:creationId xmlns:a16="http://schemas.microsoft.com/office/drawing/2014/main" id="{25B4BD64-F8E0-4EC8-BB12-55240FA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3343320"/>
            <a:ext cx="63529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让作品更容易分享、复用与继续开发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AI 让软件实现更容易 硬件体验仍需要长期积累">
            <a:extLst xmlns:a="http://schemas.openxmlformats.org/drawingml/2006/main">
              <a:ext uri="{FF2B5EF4-FFF2-40B4-BE49-F238E27FC236}">
                <a16:creationId xmlns:a16="http://schemas.microsoft.com/office/drawing/2014/main" id="{6A4CD2EC-2E36-48C1-9B46-500CF7E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4486320"/>
            <a:ext cx="6333840" cy="100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</a:t>
            </a:r>
            <a:r>
              <a:rPr sz="25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让软件实现更容易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硬件体验仍需要长期积累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手感、可靠性与制造，是我们持续投入的基础">
            <a:extLst xmlns:a="http://schemas.openxmlformats.org/drawingml/2006/main">
              <a:ext uri="{FF2B5EF4-FFF2-40B4-BE49-F238E27FC236}">
                <a16:creationId xmlns:a16="http://schemas.microsoft.com/office/drawing/2014/main" id="{9E983463-0529-4839-A7E1-C549C4B9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72150"/>
            <a:ext cx="653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 sz="1800"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 sz="1800"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 sz="1800"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 sz="1800"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 sz="1800"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 sz="1800"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 sz="1800"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 sz="1800"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 sz="1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代码生成很快，按键手感不会跟着一起生成。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3F3D88-5E44-492D-8F53-544D05095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e017bd38432f"/>
          <a:stretch xmlns:a="http://schemas.openxmlformats.org/drawingml/2006/main"/>
        </p:blipFill>
        <p:spPr>
          <a:xfrm xmlns:a="http://schemas.openxmlformats.org/drawingml/2006/main">
            <a:off x="7591320" y="1771560"/>
            <a:ext cx="4000320" cy="4000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34B5E02-66F1-4F04-8072-7394E8832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e017bd38432f">
            <a:extLst>
              <a:ext uri="{96DAC541-7B7A-43D3-8B79-37D633B846F1}">
                <asvg:svgBlip xmlns:asvg="http://schemas.microsoft.com/office/drawing/2016/SVG/main" r:embed="R80f470ae3d574c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9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A9C3F7-B937-47AF-BFF5-C40F62F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03770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You will own everything">
            <a:extLst xmlns:a="http://schemas.openxmlformats.org/drawingml/2006/main">
              <a:ext uri="{FF2B5EF4-FFF2-40B4-BE49-F238E27FC236}">
                <a16:creationId xmlns:a16="http://schemas.microsoft.com/office/drawing/2014/main" id="{8E657F82-1258-4789-8B04-3754036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You will own everything</a:t>
            </a:r>
          </a:p>
        </p:txBody>
      </p:sp>
      <p:sp>
        <p:nvSpPr>
          <p:cNvPr id="2" name="and you will be happy.">
            <a:extLst xmlns:a="http://schemas.openxmlformats.org/drawingml/2006/main">
              <a:ext uri="{FF2B5EF4-FFF2-40B4-BE49-F238E27FC236}">
                <a16:creationId xmlns:a16="http://schemas.microsoft.com/office/drawing/2014/main" id="{45B3137D-835D-417C-8F21-E2BBFD17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and you will be </a:t>
            </a:r>
            <a:r>
              <a:rPr sz="52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happy.</a:t>
            </a:r>
          </a:p>
        </p:txBody>
      </p:sp>
      <p:sp>
        <p:nvSpPr>
          <p:cNvPr id="3" name="你将拥有一切，也会拥有属于自己的快乐。">
            <a:extLst xmlns:a="http://schemas.openxmlformats.org/drawingml/2006/main">
              <a:ext uri="{FF2B5EF4-FFF2-40B4-BE49-F238E27FC236}">
                <a16:creationId xmlns:a16="http://schemas.microsoft.com/office/drawing/2014/main" id="{CA9F7825-4ABB-4F52-B9A4-67C3579D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你将拥有一切，也会拥有属于自己的快乐。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44940-D136-480D-9D80-FCC466008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551a72d78490a">
            <a:extLst>
              <a:ext uri="{96DAC541-7B7A-43D3-8B79-37D633B846F1}">
                <asvg:svgBlip xmlns:asvg="http://schemas.microsoft.com/office/drawing/2016/SVG/main" r:embed="Re9b5b44dbf4245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802E61-F0B9-4198-A988-22653407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9023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